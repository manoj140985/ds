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4" r:id="rId7"/>
    <p:sldId id="902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  <a:latin typeface="Times New Roman"/>
              </a:rPr>
              <a:t>17 September 2026</a:t>
            </a: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Team Members</a:t>
                      </a: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2420030234  Yakkala Guna Veera Sri Amith</a:t>
                      </a: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2420030381  BVS Jayadeep</a:t>
                      </a: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2420030245  K Manoj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Under the Guidance of</a:t>
                      </a: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Ms. Bonagani Prathusha</a:t>
                      </a: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Guide, Department of Computer Science and Engineering,</a:t>
                      </a: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KLH CSE Bowrampet Campus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9144" tIns="9144" rIns="9144" bIns="9144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Times New Roman"/>
              </a:rPr>
              <a:t>17-09-2026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9144" tIns="9144" rIns="9144" bIns="9144" anchor="ctr"/>
          <a:lstStyle/>
          <a:p>
            <a:pPr algn="ctr"/>
            <a:r>
              <a:rPr lang="en-US" sz="1000" dirty="0">
                <a:solidFill>
                  <a:srgbClr val="666666"/>
                </a:solidFill>
                <a:latin typeface="Times New Roman"/>
              </a:rPr>
              <a:t>DS </a:t>
            </a:r>
            <a:r>
              <a:rPr sz="1000" b="0" dirty="0">
                <a:solidFill>
                  <a:srgbClr val="666666"/>
                </a:solidFill>
                <a:latin typeface="Times New Roman"/>
              </a:rPr>
              <a:t>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lvl="0" algn="ctr">
              <a:defRPr/>
            </a:pPr>
            <a:r>
              <a:rPr sz="2800" b="1">
                <a:solidFill>
                  <a:srgbClr val="FFFFFF"/>
                </a:solidFill>
                <a:latin typeface="Times New Roman"/>
              </a:rPr>
              <a:t>DataCleanAI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lvl="0" algn="ctr">
              <a:defRPr/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DATA SCIENCE (24AD3107)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73152" rIns="45720" bIns="18288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 sz="1800" b="1">
                  <a:solidFill>
                    <a:srgbClr val="FFFFFF"/>
                  </a:solidFill>
                  <a:latin typeface="Times New Roman"/>
                </a:defRPr>
              </a:pPr>
              <a:r>
                <a:rPr sz="1650" b="1">
                  <a:solidFill>
                    <a:srgbClr val="FFFFFF"/>
                  </a:solidFill>
                  <a:latin typeface="Times New Roman"/>
                </a:rPr>
                <a:t>Data Quality Challenges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73152" rIns="45720" bIns="18288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 sz="1800" b="1">
                  <a:solidFill>
                    <a:srgbClr val="FFFFFF"/>
                  </a:solidFill>
                  <a:latin typeface="Times New Roman"/>
                </a:defRPr>
              </a:pPr>
              <a:r>
                <a:rPr sz="1650" b="1">
                  <a:solidFill>
                    <a:srgbClr val="FFFFFF"/>
                  </a:solidFill>
                  <a:latin typeface="Times New Roman"/>
                </a:rPr>
                <a:t>Research Objectives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73152" rIns="45720" bIns="18288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 sz="1800" b="1">
                  <a:solidFill>
                    <a:srgbClr val="FFFFFF"/>
                  </a:solidFill>
                  <a:latin typeface="Times New Roman"/>
                </a:defRPr>
              </a:pPr>
              <a:r>
                <a:rPr sz="1650" b="1">
                  <a:solidFill>
                    <a:srgbClr val="FFFFFF"/>
                  </a:solidFill>
                  <a:latin typeface="Times New Roman"/>
                </a:rPr>
                <a:t>Solution &amp; Future Work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73152" rIns="45720" bIns="18288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 sz="1800" b="1">
                  <a:solidFill>
                    <a:srgbClr val="FFFFFF"/>
                  </a:solidFill>
                  <a:latin typeface="Times New Roman"/>
                </a:defRPr>
              </a:pPr>
              <a:r>
                <a:rPr sz="1650" b="1">
                  <a:solidFill>
                    <a:srgbClr val="FFFFFF"/>
                  </a:solidFill>
                  <a:latin typeface="Times New Roman"/>
                </a:rPr>
                <a:t>Technologies &amp; Workflow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73152" rIns="45720" bIns="18288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 sz="1800" b="1">
                  <a:solidFill>
                    <a:srgbClr val="FFFFFF"/>
                  </a:solidFill>
                  <a:latin typeface="Times New Roman"/>
                </a:defRPr>
              </a:pPr>
              <a:r>
                <a:rPr sz="1650" b="1">
                  <a:solidFill>
                    <a:srgbClr val="FFFFFF"/>
                  </a:solidFill>
                  <a:latin typeface="Times New Roman"/>
                </a:rPr>
                <a:t>Project Plan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tIns="73152" rIns="45720" bIns="18288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 sz="1800" b="1">
                  <a:solidFill>
                    <a:srgbClr val="FFFFFF"/>
                  </a:solidFill>
                  <a:latin typeface="Times New Roman"/>
                </a:defRPr>
              </a:pPr>
              <a:r>
                <a:rPr sz="1650" b="1">
                  <a:solidFill>
                    <a:srgbClr val="FFFFFF"/>
                  </a:solidFill>
                  <a:latin typeface="Times New Roman"/>
                </a:rPr>
                <a:t>Project Focus</a:t>
              </a: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tIns="73152" rIns="45720" bIns="18288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 sz="1800" b="1">
                  <a:solidFill>
                    <a:srgbClr val="FFFFFF"/>
                  </a:solidFill>
                  <a:latin typeface="Times New Roman"/>
                </a:defRPr>
              </a:pPr>
              <a:r>
                <a:rPr sz="1650" b="1">
                  <a:solidFill>
                    <a:srgbClr val="FFFFFF"/>
                  </a:solidFill>
                  <a:latin typeface="Times New Roman"/>
                </a:rPr>
                <a:t>Introduction &amp; Problem</a:t>
              </a: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73152" rIns="45720" bIns="18288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 sz="1800" b="1">
                  <a:solidFill>
                    <a:srgbClr val="FFFFFF"/>
                  </a:solidFill>
                  <a:latin typeface="Times New Roman"/>
                </a:defRPr>
              </a:pPr>
              <a:r>
                <a:rPr sz="1650" b="1">
                  <a:solidFill>
                    <a:srgbClr val="FFFFFF"/>
                  </a:solidFill>
                  <a:latin typeface="Times New Roman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1417320"/>
            <a:ext cx="10058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</a:rPr>
              <a:t>Real-world datasets frequently contain quality issues that can reduce the reliability of analysis and machine-learning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99946"/>
            <a:ext cx="9875520" cy="2435347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</a:t>
            </a:r>
            <a:r>
              <a:rPr lang="en-US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Missing values and duplicate records require repeated manual preprocessing.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</a:t>
            </a:r>
            <a:r>
              <a:rPr lang="en-US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Inconsistent categorical values and incorrect data types can distort analysis.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</a:t>
            </a:r>
            <a:r>
              <a:rPr lang="en-US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 Numerical outliers may affect statistical results and downstream models.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</a:t>
            </a:r>
            <a:r>
              <a:rPr lang="en-US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Users need a simple way to profile a dataset and understand its quality before cleaning.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</a:t>
            </a:r>
            <a:r>
              <a:rPr lang="en-US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 Cleaning, validation, visualization, and before/after comparison are often handled as separate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696712"/>
            <a:ext cx="9875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5A96"/>
                </a:solidFill>
                <a:latin typeface="Times New Roman"/>
              </a:rPr>
              <a:t>DataCleanAI addresses these issues through an automated, reusable data-quality workflow.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9410" y="1518729"/>
            <a:ext cx="10241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 dirty="0">
                <a:solidFill>
                  <a:srgbClr val="666666"/>
                </a:solidFill>
                <a:latin typeface="Times New Roman"/>
              </a:rPr>
              <a:t>The project aims to automate the key stages of structured-data quality improvement.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" y="2379158"/>
            <a:ext cx="9966960" cy="38862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Accept datasets in CSV or Excel format and automatically profile their structure and characteristics.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Identify data types, missing values, unique values, and statistical properties.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Evaluate completeness, uniqueness, validity, and consistency to generate a data-quality score.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Apply suitable cleaning methods: median/mode imputation, duplicate removal, IQR-based outlier treatment, and text standardization.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Provide interactive visualizations and before/after comparisons, with the cleaned dataset available for download.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A978B-D03C-60E4-E954-A694C80C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93DAF-7A77-E5F2-D0CF-C68A1E342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0404E9-E358-9306-C7B3-5FB80A6F5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436" y="100584"/>
            <a:ext cx="8695944" cy="652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21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1821327"/>
              </p:ext>
            </p:extLst>
          </p:nvPr>
        </p:nvGraphicFramePr>
        <p:xfrm>
          <a:off x="274646" y="932688"/>
          <a:ext cx="11642705" cy="546085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054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Title of the Paper</a:t>
                      </a:r>
                    </a:p>
                  </a:txBody>
                  <a:tcPr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Inferences</a:t>
                      </a:r>
                    </a:p>
                  </a:txBody>
                  <a:tcPr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691"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Fox, Levitin &amp; Redman (1994)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The Notion of Data and Its Quality 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Identifies key data-quality dimensions such as accuracy, completeness, consistency and currency.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Provides a foundation for defining and evaluating data quality before preprocessing.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Conceptual framework; does not provide an integrated automated cleaning platform.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618813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Van den Broeck et al. (2005)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Data Cleaning: Detecting, Diagnosing, and Editing Data Abnormalities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Systematic process for detecting, diagnosing and editing abnormalities in datasets.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Supports the need for structured data-cleaning and validation workflows.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Focuses on the cleaning process rather than an interactive end-to-end quality platform.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618813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Rekatsinas et al. (2017)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HoloClean: Holistic Data Repairs with Probabilistic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Uses probabilistic inference to detect and repair errors and inconsistencies in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Demonstrates the potential for automated data-error detection and repair.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More complex computational approach; </a:t>
                      </a:r>
                      <a:r>
                        <a:rPr sz="1400" b="0" dirty="0" err="1">
                          <a:latin typeface="Times New Roman"/>
                        </a:rPr>
                        <a:t>DataCleanAI</a:t>
                      </a:r>
                      <a:r>
                        <a:rPr sz="1400" b="0" dirty="0">
                          <a:latin typeface="Times New Roman"/>
                        </a:rPr>
                        <a:t> targets common structured-data issues with simpler, user-friendly methods.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417320"/>
            <a:ext cx="5212080" cy="416052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spcAft>
                <a:spcPts val="400"/>
              </a:spcAft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Gap identified from the abstract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Data preparation can involve multiple manual tasks—profiling, identifying quality issues, cleaning inconsistent records, treating outliers, and validating the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160520"/>
          </a:xfrm>
          <a:prstGeom prst="roundRect">
            <a:avLst/>
          </a:prstGeom>
          <a:solidFill>
            <a:srgbClr val="EFF7FC"/>
          </a:solidFill>
          <a:ln w="1524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spcAft>
                <a:spcPts val="400"/>
              </a:spcAft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Proposed project response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DataCleanAI brings profiling, quality scoring, automated cleaning, interactive visualization, before/after comparison, and cleaned-data download into one Streamlit-based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760720"/>
            <a:ext cx="8961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05A96"/>
                </a:solidFill>
                <a:latin typeface="Times New Roman"/>
              </a:rPr>
              <a:t>Core gap: fragmented preprocessing steps → integrated, user-friendly data-quality workflow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2588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666666"/>
                </a:solidFill>
                <a:latin typeface="Times New Roman"/>
              </a:rPr>
              <a:t>Key project innovation described in the abstract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148840" cy="205740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1. Profile</a:t>
            </a:r>
          </a:p>
          <a:p>
            <a:pPr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Dataset structure, types,</a:t>
            </a:r>
            <a:br/>
            <a:r>
              <a:rPr>
                <a:latin typeface="Times New Roman"/>
              </a:rPr>
              <a:t>missing &amp; unique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148840"/>
            <a:ext cx="2148840" cy="205740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2. Score</a:t>
            </a:r>
          </a:p>
          <a:p>
            <a:pPr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Completeness, uniqueness,</a:t>
            </a:r>
            <a:br/>
            <a:r>
              <a:rPr>
                <a:latin typeface="Times New Roman"/>
              </a:rPr>
              <a:t>validity &amp; consistency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148840"/>
            <a:ext cx="2148840" cy="205740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3. Clean</a:t>
            </a:r>
          </a:p>
          <a:p>
            <a:pPr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Imputation, duplicates,</a:t>
            </a:r>
            <a:br/>
            <a:r>
              <a:rPr>
                <a:latin typeface="Times New Roman"/>
              </a:rPr>
              <a:t>IQR outliers &amp;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148840"/>
            <a:ext cx="2148840" cy="205740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4. Visualize</a:t>
            </a:r>
          </a:p>
          <a:p>
            <a:pPr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Interactive views and</a:t>
            </a:r>
            <a:br/>
            <a:r>
              <a:rPr>
                <a:latin typeface="Times New Roman"/>
              </a:rPr>
              <a:t>before/after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2148840"/>
            <a:ext cx="2148840" cy="205740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5. Deliver</a:t>
            </a:r>
          </a:p>
          <a:p>
            <a:pPr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Download cleaned data</a:t>
            </a:r>
            <a:br/>
            <a:r>
              <a:rPr>
                <a:latin typeface="Times New Roman"/>
              </a:rPr>
              <a:t>for downstream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2412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Technology stack: Python • Pandas • NumPy • Scikit-learn • Plotly • 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50" b="0">
                <a:solidFill>
                  <a:srgbClr val="666666"/>
                </a:solidFill>
                <a:latin typeface="Times New Roman"/>
              </a:rPr>
              <a:t>The combination is intended to reduce manual preprocessing effort and improve the quality and reliability of structured datasets.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/>
              </a:rPr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645920"/>
            <a:ext cx="10116039" cy="320040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Proposed Phase 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280160"/>
            <a:ext cx="1088136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50">
                <a:solidFill>
                  <a:srgbClr val="666666"/>
                </a:solidFill>
                <a:latin typeface="Times New Roman"/>
              </a:rPr>
              <a:t>Feasibility: Python-based stack + Streamlit interface support a lightweight interactive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783080" cy="1965960"/>
          </a:xfrm>
          <a:prstGeom prst="roundRect">
            <a:avLst/>
          </a:prstGeom>
          <a:solidFill>
            <a:srgbClr val="3F3F3F"/>
          </a:solidFill>
          <a:ln w="19050">
            <a:solidFill>
              <a:srgbClr val="F2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Times New Roman"/>
              </a:rPr>
              <a:t>Phase 1</a:t>
            </a:r>
            <a:br/>
            <a:r>
              <a:rPr sz="1550" b="1">
                <a:solidFill>
                  <a:srgbClr val="FFFFFF"/>
                </a:solidFill>
                <a:latin typeface="Times New Roman"/>
              </a:rPr>
              <a:t>Dataset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5728" y="2057400"/>
            <a:ext cx="1783080" cy="1965960"/>
          </a:xfrm>
          <a:prstGeom prst="roundRect">
            <a:avLst/>
          </a:prstGeom>
          <a:solidFill>
            <a:srgbClr val="3F3F3F"/>
          </a:solidFill>
          <a:ln w="19050">
            <a:solidFill>
              <a:srgbClr val="F2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Times New Roman"/>
              </a:rPr>
              <a:t>Phase 2</a:t>
            </a:r>
            <a:br/>
            <a:r>
              <a:rPr sz="1550" b="1">
                <a:solidFill>
                  <a:srgbClr val="FFFFFF"/>
                </a:solidFill>
                <a:latin typeface="Times New Roman"/>
              </a:rPr>
              <a:t>Profiling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2057400"/>
            <a:ext cx="1783080" cy="1965960"/>
          </a:xfrm>
          <a:prstGeom prst="roundRect">
            <a:avLst/>
          </a:prstGeom>
          <a:solidFill>
            <a:srgbClr val="3F3F3F"/>
          </a:solidFill>
          <a:ln w="19050">
            <a:solidFill>
              <a:srgbClr val="F2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Times New Roman"/>
              </a:rPr>
              <a:t>Phase 3</a:t>
            </a:r>
            <a:br/>
            <a:r>
              <a:rPr sz="1550" b="1">
                <a:solidFill>
                  <a:srgbClr val="FFFFFF"/>
                </a:solidFill>
                <a:latin typeface="Times New Roman"/>
              </a:rPr>
              <a:t>Quality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3" y="2057400"/>
            <a:ext cx="1783080" cy="1965960"/>
          </a:xfrm>
          <a:prstGeom prst="roundRect">
            <a:avLst/>
          </a:prstGeom>
          <a:solidFill>
            <a:srgbClr val="3F3F3F"/>
          </a:solidFill>
          <a:ln w="19050">
            <a:solidFill>
              <a:srgbClr val="F2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Times New Roman"/>
              </a:rPr>
              <a:t>Phase 4</a:t>
            </a:r>
            <a:br/>
            <a:r>
              <a:rPr sz="1550" b="1">
                <a:solidFill>
                  <a:srgbClr val="FFFFFF"/>
                </a:solidFill>
                <a:latin typeface="Times New Roman"/>
              </a:rPr>
              <a:t>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2057400"/>
            <a:ext cx="1783080" cy="1965960"/>
          </a:xfrm>
          <a:prstGeom prst="roundRect">
            <a:avLst/>
          </a:prstGeom>
          <a:solidFill>
            <a:srgbClr val="3F3F3F"/>
          </a:solidFill>
          <a:ln w="19050">
            <a:solidFill>
              <a:srgbClr val="F2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Times New Roman"/>
              </a:rPr>
              <a:t>Phase 5</a:t>
            </a:r>
            <a:br/>
            <a:r>
              <a:rPr sz="1550" b="1">
                <a:solidFill>
                  <a:srgbClr val="FFFFFF"/>
                </a:solidFill>
                <a:latin typeface="Times New Roman"/>
              </a:rPr>
              <a:t>Visualization &amp;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2057400"/>
            <a:ext cx="1783080" cy="1965960"/>
          </a:xfrm>
          <a:prstGeom prst="roundRect">
            <a:avLst/>
          </a:prstGeom>
          <a:solidFill>
            <a:srgbClr val="3F3F3F"/>
          </a:solidFill>
          <a:ln w="19050">
            <a:solidFill>
              <a:srgbClr val="F2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Times New Roman"/>
              </a:rPr>
              <a:t>Phase 6</a:t>
            </a:r>
            <a:br/>
            <a:r>
              <a:rPr sz="1550" b="1">
                <a:solidFill>
                  <a:srgbClr val="FFFFFF"/>
                </a:solidFill>
                <a:latin typeface="Times New Roman"/>
              </a:rPr>
              <a:t>Validation &amp; 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144" y="2761488"/>
            <a:ext cx="73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28A2E"/>
                </a:solidFill>
                <a:latin typeface="Times New Roman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761488"/>
            <a:ext cx="73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28A2E"/>
                </a:solidFill>
                <a:latin typeface="Times New Roman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761488"/>
            <a:ext cx="73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28A2E"/>
                </a:solidFill>
                <a:latin typeface="Times New Roman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7" y="2761488"/>
            <a:ext cx="73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28A2E"/>
                </a:solidFill>
                <a:latin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6376" y="2761488"/>
            <a:ext cx="73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28A2E"/>
                </a:solidFill>
                <a:latin typeface="Times New Roman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  <a:latin typeface="Times New Roman"/>
              </a:rPr>
              <a:t>Intended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101498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50" b="0">
                <a:solidFill>
                  <a:srgbClr val="000000"/>
                </a:solidFill>
                <a:latin typeface="Times New Roman"/>
              </a:rPr>
              <a:t>A cleaned, validated dataset plus quality insights and visual comparisons that can be used for statistical analysis, visualization, or machine-learning applications.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147" y="5986902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dirty="0">
                <a:solidFill>
                  <a:srgbClr val="666666"/>
                </a:solidFill>
                <a:latin typeface="Times New Roman"/>
              </a:rPr>
              <a:t>Downstream use described in the abstract: statistical analysis, visualization, and machine-learning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732</Words>
  <Application>Microsoft Office PowerPoint</Application>
  <PresentationFormat>Widescreen</PresentationFormat>
  <Paragraphs>99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Amith Yakkala</cp:lastModifiedBy>
  <cp:revision>36</cp:revision>
  <dcterms:created xsi:type="dcterms:W3CDTF">2026-08-08T06:33:56Z</dcterms:created>
  <dcterms:modified xsi:type="dcterms:W3CDTF">2026-09-18T03:26:25Z</dcterms:modified>
</cp:coreProperties>
</file>